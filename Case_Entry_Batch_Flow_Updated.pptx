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320040"/>
          </a:xfrm>
          <a:prstGeom prst="rect">
            <a:avLst/>
          </a:prstGeom>
          <a:solidFill>
            <a:srgbClr val="2196A9"/>
          </a:solidFill>
          <a:ln>
            <a:solidFill>
              <a:srgbClr val="219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10789920" cy="1371600"/>
          </a:xfrm>
          <a:prstGeom prst="rect">
            <a:avLst/>
          </a:prstGeom>
          <a:noFill/>
        </p:spPr>
        <p:txBody>
          <a:bodyPr wrap="none">
            <a:spAutoFit/>
          </a:bodyPr>
          <a:lstStyle/>
          <a:p>
            <a:r>
              <a:rPr sz="2800" b="1">
                <a:solidFill>
                  <a:srgbClr val="183058"/>
                </a:solidFill>
                <a:latin typeface="Aptos Display"/>
              </a:rPr>
              <a:t>Case Entry Batch Processing Flow</a:t>
            </a:r>
          </a:p>
        </p:txBody>
      </p:sp>
      <p:sp>
        <p:nvSpPr>
          <p:cNvPr id="4" name="Rounded Rectangle 3"/>
          <p:cNvSpPr/>
          <p:nvPr/>
        </p:nvSpPr>
        <p:spPr>
          <a:xfrm>
            <a:off x="731520" y="2194560"/>
            <a:ext cx="3474720" cy="1371600"/>
          </a:xfrm>
          <a:prstGeom prst="roundRect">
            <a:avLst/>
          </a:prstGeom>
          <a:solidFill>
            <a:srgbClr val="183058"/>
          </a:solidFill>
          <a:ln>
            <a:solidFill>
              <a:srgbClr val="18305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Purpose</a:t>
            </a:r>
          </a:p>
          <a:p>
            <a:pPr>
              <a:defRPr sz="1100">
                <a:solidFill>
                  <a:srgbClr val="FFFFFF"/>
                </a:solidFill>
                <a:latin typeface="Aptos"/>
              </a:defRPr>
            </a:pPr>
            <a:r>
              <a:t>Convert staged batch claims into validated participant-level cases and populate the downstream case-tracking model.</a:t>
            </a:r>
          </a:p>
        </p:txBody>
      </p:sp>
      <p:sp>
        <p:nvSpPr>
          <p:cNvPr id="5" name="Rounded Rectangle 4"/>
          <p:cNvSpPr/>
          <p:nvPr/>
        </p:nvSpPr>
        <p:spPr>
          <a:xfrm>
            <a:off x="4343400" y="2194560"/>
            <a:ext cx="3474720" cy="1371600"/>
          </a:xfrm>
          <a:prstGeom prst="roundRect">
            <a:avLst/>
          </a:prstGeom>
          <a:solidFill>
            <a:srgbClr val="3F67BD"/>
          </a:solidFill>
          <a:ln>
            <a:solidFill>
              <a:srgbClr val="3F67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Input</a:t>
            </a:r>
          </a:p>
          <a:p>
            <a:pPr>
              <a:defRPr sz="1100">
                <a:solidFill>
                  <a:srgbClr val="FFFFFF"/>
                </a:solidFill>
                <a:latin typeface="Aptos"/>
              </a:defRPr>
            </a:pPr>
            <a:r>
              <a:t>Pending records in CA_UNIVERSE_BATCH_T, validated against source claim data in DM_CLAIM_DRUG_T.</a:t>
            </a:r>
          </a:p>
        </p:txBody>
      </p:sp>
      <p:sp>
        <p:nvSpPr>
          <p:cNvPr id="6" name="Rounded Rectangle 5"/>
          <p:cNvSpPr/>
          <p:nvPr/>
        </p:nvSpPr>
        <p:spPr>
          <a:xfrm>
            <a:off x="7955279" y="2194560"/>
            <a:ext cx="3474720" cy="1371600"/>
          </a:xfrm>
          <a:prstGeom prst="roundRect">
            <a:avLst/>
          </a:prstGeom>
          <a:solidFill>
            <a:srgbClr val="2196A9"/>
          </a:solidFill>
          <a:ln>
            <a:solidFill>
              <a:srgbClr val="2196A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Outcome</a:t>
            </a:r>
          </a:p>
          <a:p>
            <a:pPr>
              <a:defRPr sz="1100">
                <a:solidFill>
                  <a:srgbClr val="FFFFFF"/>
                </a:solidFill>
                <a:latin typeface="Aptos"/>
              </a:defRPr>
            </a:pPr>
            <a:r>
              <a:t>Fully created cases, populated child tables, audit trail, and business notification emails.</a:t>
            </a:r>
          </a:p>
        </p:txBody>
      </p:sp>
      <p:sp>
        <p:nvSpPr>
          <p:cNvPr id="7" name="Rounded Rectangle 6"/>
          <p:cNvSpPr/>
          <p:nvPr/>
        </p:nvSpPr>
        <p:spPr>
          <a:xfrm>
            <a:off x="548640" y="1417320"/>
            <a:ext cx="10972800" cy="502920"/>
          </a:xfrm>
          <a:prstGeom prst="roundRect">
            <a:avLst/>
          </a:prstGeom>
          <a:solidFill>
            <a:srgbClr val="183058"/>
          </a:solidFill>
          <a:ln>
            <a:solidFill>
              <a:srgbClr val="183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ptos"/>
              </a:rPr>
              <a:t>Business Summary</a:t>
            </a:r>
          </a:p>
        </p:txBody>
      </p:sp>
      <p:sp>
        <p:nvSpPr>
          <p:cNvPr id="8" name="TextBox 7"/>
          <p:cNvSpPr txBox="1"/>
          <p:nvPr/>
        </p:nvSpPr>
        <p:spPr>
          <a:xfrm>
            <a:off x="822960" y="3886200"/>
            <a:ext cx="10515600" cy="1828800"/>
          </a:xfrm>
          <a:prstGeom prst="rect">
            <a:avLst/>
          </a:prstGeom>
          <a:noFill/>
        </p:spPr>
        <p:txBody>
          <a:bodyPr wrap="square">
            <a:spAutoFit/>
          </a:bodyPr>
          <a:lstStyle/>
          <a:p>
            <a:pPr>
              <a:spcAft>
                <a:spcPts val="1000"/>
              </a:spcAft>
              <a:defRPr sz="1700">
                <a:solidFill>
                  <a:srgbClr val="2B3038"/>
                </a:solidFill>
                <a:latin typeface="Aptos"/>
              </a:defRPr>
            </a:pPr>
            <a:r>
              <a:t>Reads staged batch records, validates them, groups them by participant, and creates one case per participant.</a:t>
            </a:r>
          </a:p>
          <a:p>
            <a:pPr>
              <a:spcAft>
                <a:spcPts val="1000"/>
              </a:spcAft>
              <a:defRPr sz="1700">
                <a:solidFill>
                  <a:srgbClr val="2B3038"/>
                </a:solidFill>
                <a:latin typeface="Aptos"/>
              </a:defRPr>
            </a:pPr>
            <a:r>
              <a:t>Populates the full case structure using a parent-child object graph anchored on CA_INTELLIGENT_KEY_T.</a:t>
            </a:r>
          </a:p>
          <a:p>
            <a:pPr>
              <a:spcAft>
                <a:spcPts val="1000"/>
              </a:spcAft>
              <a:defRPr sz="1700">
                <a:solidFill>
                  <a:srgbClr val="2B3038"/>
                </a:solidFill>
                <a:latin typeface="Aptos"/>
              </a:defRPr>
            </a:pPr>
            <a:r>
              <a:t>Sends success, invalid-batch, assignment, or failure notifications and logs email history.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640080"/>
          </a:xfrm>
          <a:prstGeom prst="rect">
            <a:avLst/>
          </a:prstGeom>
          <a:noFill/>
        </p:spPr>
        <p:txBody>
          <a:bodyPr wrap="none">
            <a:spAutoFit/>
          </a:bodyPr>
          <a:lstStyle/>
          <a:p>
            <a:r>
              <a:rPr sz="2400" b="1">
                <a:solidFill>
                  <a:srgbClr val="183058"/>
                </a:solidFill>
                <a:latin typeface="Aptos Display"/>
              </a:rPr>
              <a:t>End-to-End Process Flow</a:t>
            </a:r>
          </a:p>
        </p:txBody>
      </p:sp>
      <p:sp>
        <p:nvSpPr>
          <p:cNvPr id="3" name="TextBox 2"/>
          <p:cNvSpPr txBox="1"/>
          <p:nvPr/>
        </p:nvSpPr>
        <p:spPr>
          <a:xfrm>
            <a:off x="548640" y="914400"/>
            <a:ext cx="10972800" cy="411480"/>
          </a:xfrm>
          <a:prstGeom prst="rect">
            <a:avLst/>
          </a:prstGeom>
          <a:noFill/>
        </p:spPr>
        <p:txBody>
          <a:bodyPr wrap="none">
            <a:spAutoFit/>
          </a:bodyPr>
          <a:lstStyle/>
          <a:p>
            <a:r>
              <a:rPr sz="1100">
                <a:solidFill>
                  <a:srgbClr val="66707A"/>
                </a:solidFill>
                <a:latin typeface="Aptos"/>
              </a:rPr>
              <a:t>High-level operational flow for batch processing</a:t>
            </a:r>
          </a:p>
        </p:txBody>
      </p:sp>
      <p:sp>
        <p:nvSpPr>
          <p:cNvPr id="4" name="Rounded Rectangle 3"/>
          <p:cNvSpPr/>
          <p:nvPr/>
        </p:nvSpPr>
        <p:spPr>
          <a:xfrm>
            <a:off x="548640" y="1417320"/>
            <a:ext cx="10972800" cy="502920"/>
          </a:xfrm>
          <a:prstGeom prst="roundRect">
            <a:avLst/>
          </a:prstGeom>
          <a:solidFill>
            <a:srgbClr val="183058"/>
          </a:solidFill>
          <a:ln>
            <a:solidFill>
              <a:srgbClr val="183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ptos"/>
              </a:rPr>
              <a:t>Processing Sequence</a:t>
            </a:r>
          </a:p>
        </p:txBody>
      </p:sp>
      <p:sp>
        <p:nvSpPr>
          <p:cNvPr id="5" name="Rounded Rectangle 4"/>
          <p:cNvSpPr/>
          <p:nvPr/>
        </p:nvSpPr>
        <p:spPr>
          <a:xfrm>
            <a:off x="548640" y="2011680"/>
            <a:ext cx="1874519" cy="2194560"/>
          </a:xfrm>
          <a:prstGeom prst="roundRect">
            <a:avLst/>
          </a:prstGeom>
          <a:solidFill>
            <a:srgbClr val="183058"/>
          </a:solidFill>
          <a:ln>
            <a:solidFill>
              <a:srgbClr val="18305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1. Intake</a:t>
            </a:r>
          </a:p>
          <a:p>
            <a:pPr>
              <a:defRPr sz="1100">
                <a:solidFill>
                  <a:srgbClr val="FFFFFF"/>
                </a:solidFill>
                <a:latin typeface="Aptos"/>
              </a:defRPr>
            </a:pPr>
            <a:r>
              <a:t>Read pending batch ids and load staged rows from CA_UNIVERSE_BATCH_T.</a:t>
            </a:r>
          </a:p>
        </p:txBody>
      </p:sp>
      <p:sp>
        <p:nvSpPr>
          <p:cNvPr id="6" name="Rounded Rectangle 5"/>
          <p:cNvSpPr/>
          <p:nvPr/>
        </p:nvSpPr>
        <p:spPr>
          <a:xfrm>
            <a:off x="2697480" y="2011680"/>
            <a:ext cx="1874519" cy="2194560"/>
          </a:xfrm>
          <a:prstGeom prst="roundRect">
            <a:avLst/>
          </a:prstGeom>
          <a:solidFill>
            <a:srgbClr val="3F67BD"/>
          </a:solidFill>
          <a:ln>
            <a:solidFill>
              <a:srgbClr val="3F67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2. Validate</a:t>
            </a:r>
          </a:p>
          <a:p>
            <a:pPr>
              <a:defRPr sz="1100">
                <a:solidFill>
                  <a:srgbClr val="FFFFFF"/>
                </a:solidFill>
                <a:latin typeface="Aptos"/>
              </a:defRPr>
            </a:pPr>
            <a:r>
              <a:t>Check duplicates, source claim presence, and participant/provider match against DM_CLAIM_DRUG_T.</a:t>
            </a:r>
          </a:p>
        </p:txBody>
      </p:sp>
      <p:sp>
        <p:nvSpPr>
          <p:cNvPr id="7" name="Rounded Rectangle 6"/>
          <p:cNvSpPr/>
          <p:nvPr/>
        </p:nvSpPr>
        <p:spPr>
          <a:xfrm>
            <a:off x="4846320" y="2011680"/>
            <a:ext cx="1874519" cy="2194560"/>
          </a:xfrm>
          <a:prstGeom prst="roundRect">
            <a:avLst/>
          </a:prstGeom>
          <a:solidFill>
            <a:srgbClr val="2196A9"/>
          </a:solidFill>
          <a:ln>
            <a:solidFill>
              <a:srgbClr val="2196A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3. Enrich</a:t>
            </a:r>
          </a:p>
          <a:p>
            <a:pPr>
              <a:defRPr sz="1100">
                <a:solidFill>
                  <a:srgbClr val="FFFFFF"/>
                </a:solidFill>
                <a:latin typeface="Aptos"/>
              </a:defRPr>
            </a:pPr>
            <a:r>
              <a:t>Create validated CA_UNIVERSE_T records and copy source claim attributes needed downstream.</a:t>
            </a:r>
          </a:p>
        </p:txBody>
      </p:sp>
      <p:sp>
        <p:nvSpPr>
          <p:cNvPr id="8" name="Rounded Rectangle 7"/>
          <p:cNvSpPr/>
          <p:nvPr/>
        </p:nvSpPr>
        <p:spPr>
          <a:xfrm>
            <a:off x="6995160" y="2011680"/>
            <a:ext cx="1874519" cy="2194560"/>
          </a:xfrm>
          <a:prstGeom prst="roundRect">
            <a:avLst/>
          </a:prstGeom>
          <a:solidFill>
            <a:srgbClr val="4A8665"/>
          </a:solidFill>
          <a:ln>
            <a:solidFill>
              <a:srgbClr val="4A866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4. Create Cases</a:t>
            </a:r>
          </a:p>
          <a:p>
            <a:pPr>
              <a:defRPr sz="1100">
                <a:solidFill>
                  <a:srgbClr val="FFFFFF"/>
                </a:solidFill>
                <a:latin typeface="Aptos"/>
              </a:defRPr>
            </a:pPr>
            <a:r>
              <a:t>Group rows by participant and generate CASE_ID, sequence, case header, investigation, and claim records.</a:t>
            </a:r>
          </a:p>
        </p:txBody>
      </p:sp>
      <p:sp>
        <p:nvSpPr>
          <p:cNvPr id="9" name="Rounded Rectangle 8"/>
          <p:cNvSpPr/>
          <p:nvPr/>
        </p:nvSpPr>
        <p:spPr>
          <a:xfrm>
            <a:off x="9144000" y="2011680"/>
            <a:ext cx="1874519" cy="2194560"/>
          </a:xfrm>
          <a:prstGeom prst="roundRect">
            <a:avLst/>
          </a:prstGeom>
          <a:solidFill>
            <a:srgbClr val="D57E39"/>
          </a:solidFill>
          <a:ln>
            <a:solidFill>
              <a:srgbClr val="D57E3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5. Notify</a:t>
            </a:r>
          </a:p>
          <a:p>
            <a:pPr>
              <a:defRPr sz="1100">
                <a:solidFill>
                  <a:srgbClr val="FFFFFF"/>
                </a:solidFill>
                <a:latin typeface="Aptos"/>
              </a:defRPr>
            </a:pPr>
            <a:r>
              <a:t>Send outcome-based emails and write email audit records in CA_EMAILS_BATCH_T.</a:t>
            </a:r>
          </a:p>
        </p:txBody>
      </p:sp>
      <p:sp>
        <p:nvSpPr>
          <p:cNvPr id="10" name="TextBox 9"/>
          <p:cNvSpPr txBox="1"/>
          <p:nvPr/>
        </p:nvSpPr>
        <p:spPr>
          <a:xfrm>
            <a:off x="731520" y="4617720"/>
            <a:ext cx="10972800" cy="1463040"/>
          </a:xfrm>
          <a:prstGeom prst="rect">
            <a:avLst/>
          </a:prstGeom>
          <a:noFill/>
        </p:spPr>
        <p:txBody>
          <a:bodyPr wrap="square">
            <a:spAutoFit/>
          </a:bodyPr>
          <a:lstStyle/>
          <a:p>
            <a:pPr>
              <a:spcAft>
                <a:spcPts val="1000"/>
              </a:spcAft>
              <a:defRPr sz="1600">
                <a:solidFill>
                  <a:srgbClr val="2B3038"/>
                </a:solidFill>
                <a:latin typeface="Aptos"/>
              </a:defRPr>
            </a:pPr>
            <a:r>
              <a:t>If validation fails, staging rows remain in CA_UNIVERSE_BATCH_T and an invalid batch notification is sent.</a:t>
            </a:r>
          </a:p>
          <a:p>
            <a:pPr>
              <a:spcAft>
                <a:spcPts val="1000"/>
              </a:spcAft>
              <a:defRPr sz="1600">
                <a:solidFill>
                  <a:srgbClr val="2B3038"/>
                </a:solidFill>
                <a:latin typeface="Aptos"/>
              </a:defRPr>
            </a:pPr>
            <a:r>
              <a:t>If processing succeeds, the staged batch rows are removed after downstream case creation completes.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640080"/>
          </a:xfrm>
          <a:prstGeom prst="rect">
            <a:avLst/>
          </a:prstGeom>
          <a:noFill/>
        </p:spPr>
        <p:txBody>
          <a:bodyPr wrap="none">
            <a:spAutoFit/>
          </a:bodyPr>
          <a:lstStyle/>
          <a:p>
            <a:r>
              <a:rPr sz="2400" b="1">
                <a:solidFill>
                  <a:srgbClr val="183058"/>
                </a:solidFill>
                <a:latin typeface="Aptos Display"/>
              </a:rPr>
              <a:t>Case Creation and Population Logic</a:t>
            </a:r>
          </a:p>
        </p:txBody>
      </p:sp>
      <p:sp>
        <p:nvSpPr>
          <p:cNvPr id="3" name="TextBox 2"/>
          <p:cNvSpPr txBox="1"/>
          <p:nvPr/>
        </p:nvSpPr>
        <p:spPr>
          <a:xfrm>
            <a:off x="548640" y="914400"/>
            <a:ext cx="10972800" cy="411480"/>
          </a:xfrm>
          <a:prstGeom prst="rect">
            <a:avLst/>
          </a:prstGeom>
          <a:noFill/>
        </p:spPr>
        <p:txBody>
          <a:bodyPr wrap="none">
            <a:spAutoFit/>
          </a:bodyPr>
          <a:lstStyle/>
          <a:p>
            <a:r>
              <a:rPr sz="1100">
                <a:solidFill>
                  <a:srgbClr val="66707A"/>
                </a:solidFill>
                <a:latin typeface="Aptos"/>
              </a:rPr>
              <a:t>How a validated participant group becomes a fully populated case</a:t>
            </a:r>
          </a:p>
        </p:txBody>
      </p:sp>
      <p:sp>
        <p:nvSpPr>
          <p:cNvPr id="4" name="Rounded Rectangle 3"/>
          <p:cNvSpPr/>
          <p:nvPr/>
        </p:nvSpPr>
        <p:spPr>
          <a:xfrm>
            <a:off x="548640" y="1417320"/>
            <a:ext cx="10972800" cy="502920"/>
          </a:xfrm>
          <a:prstGeom prst="roundRect">
            <a:avLst/>
          </a:prstGeom>
          <a:solidFill>
            <a:srgbClr val="183058"/>
          </a:solidFill>
          <a:ln>
            <a:solidFill>
              <a:srgbClr val="183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ptos"/>
              </a:rPr>
              <a:t>Population Approach</a:t>
            </a:r>
          </a:p>
        </p:txBody>
      </p:sp>
      <p:sp>
        <p:nvSpPr>
          <p:cNvPr id="5" name="TextBox 4"/>
          <p:cNvSpPr txBox="1"/>
          <p:nvPr/>
        </p:nvSpPr>
        <p:spPr>
          <a:xfrm>
            <a:off x="731520" y="1920240"/>
            <a:ext cx="5303520" cy="4114800"/>
          </a:xfrm>
          <a:prstGeom prst="rect">
            <a:avLst/>
          </a:prstGeom>
          <a:noFill/>
        </p:spPr>
        <p:txBody>
          <a:bodyPr wrap="square">
            <a:spAutoFit/>
          </a:bodyPr>
          <a:lstStyle/>
          <a:p>
            <a:pPr>
              <a:spcAft>
                <a:spcPts val="1000"/>
              </a:spcAft>
              <a:defRPr sz="1700">
                <a:solidFill>
                  <a:srgbClr val="2B3038"/>
                </a:solidFill>
                <a:latin typeface="Aptos"/>
              </a:defRPr>
            </a:pPr>
            <a:r>
              <a:t>Validated records are grouped by participant so one participant becomes one case.</a:t>
            </a:r>
          </a:p>
          <a:p>
            <a:pPr>
              <a:spcAft>
                <a:spcPts val="1000"/>
              </a:spcAft>
              <a:defRPr sz="1700">
                <a:solidFill>
                  <a:srgbClr val="2B3038"/>
                </a:solidFill>
                <a:latin typeface="Aptos"/>
              </a:defRPr>
            </a:pPr>
            <a:r>
              <a:t>The system generates a new CASE_ID and CA_SEQUENCE_ID for each participant-level case.</a:t>
            </a:r>
          </a:p>
          <a:p>
            <a:pPr>
              <a:spcAft>
                <a:spcPts val="1000"/>
              </a:spcAft>
              <a:defRPr sz="1700">
                <a:solidFill>
                  <a:srgbClr val="2B3038"/>
                </a:solidFill>
                <a:latin typeface="Aptos"/>
              </a:defRPr>
            </a:pPr>
            <a:r>
              <a:t>Each claim row receives the case id, sequence id, and claim sequence number.</a:t>
            </a:r>
          </a:p>
          <a:p>
            <a:pPr>
              <a:spcAft>
                <a:spcPts val="1000"/>
              </a:spcAft>
              <a:defRPr sz="1700">
                <a:solidFill>
                  <a:srgbClr val="2B3038"/>
                </a:solidFill>
                <a:latin typeface="Aptos"/>
              </a:defRPr>
            </a:pPr>
            <a:r>
              <a:t>The case aggregate is built around CA_INTELLIGENT_KEY_T, which acts as the anchor record.</a:t>
            </a:r>
          </a:p>
          <a:p>
            <a:pPr>
              <a:spcAft>
                <a:spcPts val="1000"/>
              </a:spcAft>
              <a:defRPr sz="1700">
                <a:solidFill>
                  <a:srgbClr val="2B3038"/>
                </a:solidFill>
                <a:latin typeface="Aptos"/>
              </a:defRPr>
            </a:pPr>
            <a:r>
              <a:t>Related tables are attached to the parent case and persisted together through cascading relationships.</a:t>
            </a:r>
          </a:p>
        </p:txBody>
      </p:sp>
      <p:sp>
        <p:nvSpPr>
          <p:cNvPr id="6" name="Rounded Rectangle 5"/>
          <p:cNvSpPr/>
          <p:nvPr/>
        </p:nvSpPr>
        <p:spPr>
          <a:xfrm>
            <a:off x="6400800" y="1965960"/>
            <a:ext cx="4937760" cy="1051560"/>
          </a:xfrm>
          <a:prstGeom prst="roundRect">
            <a:avLst/>
          </a:prstGeom>
          <a:solidFill>
            <a:srgbClr val="183058"/>
          </a:solidFill>
          <a:ln>
            <a:solidFill>
              <a:srgbClr val="18305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Case Header</a:t>
            </a:r>
          </a:p>
          <a:p>
            <a:pPr>
              <a:defRPr sz="1100">
                <a:solidFill>
                  <a:srgbClr val="FFFFFF"/>
                </a:solidFill>
                <a:latin typeface="Aptos"/>
              </a:defRPr>
            </a:pPr>
            <a:r>
              <a:t>CA_INTELLIGENT_KEY_T and CA_GENERAL_T store the core case identity and summary.</a:t>
            </a:r>
          </a:p>
        </p:txBody>
      </p:sp>
      <p:sp>
        <p:nvSpPr>
          <p:cNvPr id="7" name="Rounded Rectangle 6"/>
          <p:cNvSpPr/>
          <p:nvPr/>
        </p:nvSpPr>
        <p:spPr>
          <a:xfrm>
            <a:off x="6400800" y="3154680"/>
            <a:ext cx="4937760" cy="1051560"/>
          </a:xfrm>
          <a:prstGeom prst="roundRect">
            <a:avLst/>
          </a:prstGeom>
          <a:solidFill>
            <a:srgbClr val="3F67BD"/>
          </a:solidFill>
          <a:ln>
            <a:solidFill>
              <a:srgbClr val="3F67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Participant Details</a:t>
            </a:r>
          </a:p>
          <a:p>
            <a:pPr>
              <a:defRPr sz="1100">
                <a:solidFill>
                  <a:srgbClr val="FFFFFF"/>
                </a:solidFill>
                <a:latin typeface="Aptos"/>
              </a:defRPr>
            </a:pPr>
            <a:r>
              <a:t>CA_PROVIDER_T or CA_RECIPIENT_T is populated based on the case type.</a:t>
            </a:r>
          </a:p>
        </p:txBody>
      </p:sp>
      <p:sp>
        <p:nvSpPr>
          <p:cNvPr id="8" name="Rounded Rectangle 7"/>
          <p:cNvSpPr/>
          <p:nvPr/>
        </p:nvSpPr>
        <p:spPr>
          <a:xfrm>
            <a:off x="6400800" y="4343400"/>
            <a:ext cx="4937760" cy="1051560"/>
          </a:xfrm>
          <a:prstGeom prst="roundRect">
            <a:avLst/>
          </a:prstGeom>
          <a:solidFill>
            <a:srgbClr val="2196A9"/>
          </a:solidFill>
          <a:ln>
            <a:solidFill>
              <a:srgbClr val="2196A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Claim Details</a:t>
            </a:r>
          </a:p>
          <a:p>
            <a:pPr>
              <a:defRPr sz="1100">
                <a:solidFill>
                  <a:srgbClr val="FFFFFF"/>
                </a:solidFill>
                <a:latin typeface="Aptos"/>
              </a:defRPr>
            </a:pPr>
            <a:r>
              <a:t>CA_CLAIM_LIST_T, CA_CLAIM_CORRECTIONS_T, and CA_CLAIM_CORRECTIONS_HIST_T are created for each claim row.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640080"/>
          </a:xfrm>
          <a:prstGeom prst="rect">
            <a:avLst/>
          </a:prstGeom>
          <a:noFill/>
        </p:spPr>
        <p:txBody>
          <a:bodyPr wrap="none">
            <a:spAutoFit/>
          </a:bodyPr>
          <a:lstStyle/>
          <a:p>
            <a:r>
              <a:rPr sz="2400" b="1">
                <a:solidFill>
                  <a:srgbClr val="183058"/>
                </a:solidFill>
                <a:latin typeface="Aptos Display"/>
              </a:rPr>
              <a:t>Table Population Summary</a:t>
            </a:r>
          </a:p>
        </p:txBody>
      </p:sp>
      <p:sp>
        <p:nvSpPr>
          <p:cNvPr id="3" name="TextBox 2"/>
          <p:cNvSpPr txBox="1"/>
          <p:nvPr/>
        </p:nvSpPr>
        <p:spPr>
          <a:xfrm>
            <a:off x="548640" y="914400"/>
            <a:ext cx="10972800" cy="411480"/>
          </a:xfrm>
          <a:prstGeom prst="rect">
            <a:avLst/>
          </a:prstGeom>
          <a:noFill/>
        </p:spPr>
        <p:txBody>
          <a:bodyPr wrap="none">
            <a:spAutoFit/>
          </a:bodyPr>
          <a:lstStyle/>
          <a:p>
            <a:r>
              <a:rPr sz="1100">
                <a:solidFill>
                  <a:srgbClr val="66707A"/>
                </a:solidFill>
                <a:latin typeface="Aptos"/>
              </a:rPr>
              <a:t>High-level view of how the batch process populates the case-tracking model</a:t>
            </a:r>
          </a:p>
        </p:txBody>
      </p:sp>
      <p:graphicFrame>
        <p:nvGraphicFramePr>
          <p:cNvPr id="4" name="Table 3"/>
          <p:cNvGraphicFramePr>
            <a:graphicFrameLocks noGrp="1"/>
          </p:cNvGraphicFramePr>
          <p:nvPr/>
        </p:nvGraphicFramePr>
        <p:xfrm>
          <a:off x="548640" y="1463040"/>
          <a:ext cx="10972799" cy="4846320"/>
        </p:xfrm>
        <a:graphic>
          <a:graphicData uri="http://schemas.openxmlformats.org/drawingml/2006/table">
            <a:tbl>
              <a:tblPr firstRow="1" bandRow="1">
                <a:tableStyleId>{5C22544A-7EE6-4342-B048-85BDC9FD1C3A}</a:tableStyleId>
              </a:tblPr>
              <a:tblGrid>
                <a:gridCol w="3474720"/>
                <a:gridCol w="7498079"/>
              </a:tblGrid>
              <a:tr h="440574">
                <a:tc>
                  <a:txBody>
                    <a:bodyPr/>
                    <a:lstStyle/>
                    <a:p>
                      <a:r>
                        <a:rPr sz="1300" b="1">
                          <a:solidFill>
                            <a:srgbClr val="FFFFFF"/>
                          </a:solidFill>
                          <a:latin typeface="Aptos"/>
                        </a:rPr>
                        <a:t>Process Stage</a:t>
                      </a:r>
                    </a:p>
                  </a:txBody>
                  <a:tcPr>
                    <a:solidFill>
                      <a:srgbClr val="183058"/>
                    </a:solidFill>
                  </a:tcPr>
                </a:tc>
                <a:tc>
                  <a:txBody>
                    <a:bodyPr/>
                    <a:lstStyle/>
                    <a:p>
                      <a:r>
                        <a:rPr sz="1300" b="1">
                          <a:solidFill>
                            <a:srgbClr val="FFFFFF"/>
                          </a:solidFill>
                          <a:latin typeface="Aptos"/>
                        </a:rPr>
                        <a:t>Tables Populated / Used</a:t>
                      </a:r>
                    </a:p>
                  </a:txBody>
                  <a:tcPr>
                    <a:solidFill>
                      <a:srgbClr val="183058"/>
                    </a:solidFill>
                  </a:tcPr>
                </a:tc>
              </a:tr>
              <a:tr h="440574">
                <a:tc>
                  <a:txBody>
                    <a:bodyPr/>
                    <a:lstStyle/>
                    <a:p>
                      <a:r>
                        <a:rPr sz="1200">
                          <a:solidFill>
                            <a:srgbClr val="2B3038"/>
                          </a:solidFill>
                          <a:latin typeface="Aptos"/>
                        </a:rPr>
                        <a:t>Batch staging</a:t>
                      </a:r>
                    </a:p>
                  </a:txBody>
                  <a:tcPr>
                    <a:solidFill>
                      <a:srgbClr val="F5F7FA"/>
                    </a:solidFill>
                  </a:tcPr>
                </a:tc>
                <a:tc>
                  <a:txBody>
                    <a:bodyPr/>
                    <a:lstStyle/>
                    <a:p>
                      <a:r>
                        <a:rPr sz="1200">
                          <a:solidFill>
                            <a:srgbClr val="2B3038"/>
                          </a:solidFill>
                          <a:latin typeface="Aptos"/>
                        </a:rPr>
                        <a:t>CA_UNIVERSE_BATCH_T</a:t>
                      </a:r>
                    </a:p>
                  </a:txBody>
                  <a:tcPr>
                    <a:solidFill>
                      <a:srgbClr val="F5F7FA"/>
                    </a:solidFill>
                  </a:tcPr>
                </a:tc>
              </a:tr>
              <a:tr h="440574">
                <a:tc>
                  <a:txBody>
                    <a:bodyPr/>
                    <a:lstStyle/>
                    <a:p>
                      <a:r>
                        <a:rPr sz="1200">
                          <a:solidFill>
                            <a:srgbClr val="2B3038"/>
                          </a:solidFill>
                          <a:latin typeface="Aptos"/>
                        </a:rPr>
                        <a:t>Source claim validation</a:t>
                      </a:r>
                    </a:p>
                  </a:txBody>
                  <a:tcPr>
                    <a:solidFill>
                      <a:srgbClr val="FFFFFF"/>
                    </a:solidFill>
                  </a:tcPr>
                </a:tc>
                <a:tc>
                  <a:txBody>
                    <a:bodyPr/>
                    <a:lstStyle/>
                    <a:p>
                      <a:r>
                        <a:rPr sz="1200">
                          <a:solidFill>
                            <a:srgbClr val="2B3038"/>
                          </a:solidFill>
                          <a:latin typeface="Aptos"/>
                        </a:rPr>
                        <a:t>DM_CLAIM_DRUG_T</a:t>
                      </a:r>
                    </a:p>
                  </a:txBody>
                  <a:tcPr>
                    <a:solidFill>
                      <a:srgbClr val="FFFFFF"/>
                    </a:solidFill>
                  </a:tcPr>
                </a:tc>
              </a:tr>
              <a:tr h="440574">
                <a:tc>
                  <a:txBody>
                    <a:bodyPr/>
                    <a:lstStyle/>
                    <a:p>
                      <a:r>
                        <a:rPr sz="1200">
                          <a:solidFill>
                            <a:srgbClr val="2B3038"/>
                          </a:solidFill>
                          <a:latin typeface="Aptos"/>
                        </a:rPr>
                        <a:t>Processed universe</a:t>
                      </a:r>
                    </a:p>
                  </a:txBody>
                  <a:tcPr>
                    <a:solidFill>
                      <a:srgbClr val="F5F7FA"/>
                    </a:solidFill>
                  </a:tcPr>
                </a:tc>
                <a:tc>
                  <a:txBody>
                    <a:bodyPr/>
                    <a:lstStyle/>
                    <a:p>
                      <a:r>
                        <a:rPr sz="1200">
                          <a:solidFill>
                            <a:srgbClr val="2B3038"/>
                          </a:solidFill>
                          <a:latin typeface="Aptos"/>
                        </a:rPr>
                        <a:t>CA_UNIVERSE_T</a:t>
                      </a:r>
                    </a:p>
                  </a:txBody>
                  <a:tcPr>
                    <a:solidFill>
                      <a:srgbClr val="F5F7FA"/>
                    </a:solidFill>
                  </a:tcPr>
                </a:tc>
              </a:tr>
              <a:tr h="440574">
                <a:tc>
                  <a:txBody>
                    <a:bodyPr/>
                    <a:lstStyle/>
                    <a:p>
                      <a:r>
                        <a:rPr sz="1200">
                          <a:solidFill>
                            <a:srgbClr val="2B3038"/>
                          </a:solidFill>
                          <a:latin typeface="Aptos"/>
                        </a:rPr>
                        <a:t>Case identity and header</a:t>
                      </a:r>
                    </a:p>
                  </a:txBody>
                  <a:tcPr>
                    <a:solidFill>
                      <a:srgbClr val="FFFFFF"/>
                    </a:solidFill>
                  </a:tcPr>
                </a:tc>
                <a:tc>
                  <a:txBody>
                    <a:bodyPr/>
                    <a:lstStyle/>
                    <a:p>
                      <a:r>
                        <a:rPr sz="1200">
                          <a:solidFill>
                            <a:srgbClr val="2B3038"/>
                          </a:solidFill>
                          <a:latin typeface="Aptos"/>
                        </a:rPr>
                        <a:t>CA_INTELLIGENT_KEY_T, CA_GENERAL_T</a:t>
                      </a:r>
                    </a:p>
                  </a:txBody>
                  <a:tcPr>
                    <a:solidFill>
                      <a:srgbClr val="FFFFFF"/>
                    </a:solidFill>
                  </a:tcPr>
                </a:tc>
              </a:tr>
              <a:tr h="440574">
                <a:tc>
                  <a:txBody>
                    <a:bodyPr/>
                    <a:lstStyle/>
                    <a:p>
                      <a:r>
                        <a:rPr sz="1200">
                          <a:solidFill>
                            <a:srgbClr val="2B3038"/>
                          </a:solidFill>
                          <a:latin typeface="Aptos"/>
                        </a:rPr>
                        <a:t>Provider details</a:t>
                      </a:r>
                    </a:p>
                  </a:txBody>
                  <a:tcPr>
                    <a:solidFill>
                      <a:srgbClr val="F5F7FA"/>
                    </a:solidFill>
                  </a:tcPr>
                </a:tc>
                <a:tc>
                  <a:txBody>
                    <a:bodyPr/>
                    <a:lstStyle/>
                    <a:p>
                      <a:r>
                        <a:rPr sz="1200">
                          <a:solidFill>
                            <a:srgbClr val="2B3038"/>
                          </a:solidFill>
                          <a:latin typeface="Aptos"/>
                        </a:rPr>
                        <a:t>CA_PROVIDER_T</a:t>
                      </a:r>
                    </a:p>
                  </a:txBody>
                  <a:tcPr>
                    <a:solidFill>
                      <a:srgbClr val="F5F7FA"/>
                    </a:solidFill>
                  </a:tcPr>
                </a:tc>
              </a:tr>
              <a:tr h="440574">
                <a:tc>
                  <a:txBody>
                    <a:bodyPr/>
                    <a:lstStyle/>
                    <a:p>
                      <a:r>
                        <a:rPr sz="1200">
                          <a:solidFill>
                            <a:srgbClr val="2B3038"/>
                          </a:solidFill>
                          <a:latin typeface="Aptos"/>
                        </a:rPr>
                        <a:t>Member details</a:t>
                      </a:r>
                    </a:p>
                  </a:txBody>
                  <a:tcPr>
                    <a:solidFill>
                      <a:srgbClr val="FFFFFF"/>
                    </a:solidFill>
                  </a:tcPr>
                </a:tc>
                <a:tc>
                  <a:txBody>
                    <a:bodyPr/>
                    <a:lstStyle/>
                    <a:p>
                      <a:r>
                        <a:rPr sz="1200">
                          <a:solidFill>
                            <a:srgbClr val="2B3038"/>
                          </a:solidFill>
                          <a:latin typeface="Aptos"/>
                        </a:rPr>
                        <a:t>CA_RECIPIENT_T</a:t>
                      </a:r>
                    </a:p>
                  </a:txBody>
                  <a:tcPr>
                    <a:solidFill>
                      <a:srgbClr val="FFFFFF"/>
                    </a:solidFill>
                  </a:tcPr>
                </a:tc>
              </a:tr>
              <a:tr h="440574">
                <a:tc>
                  <a:txBody>
                    <a:bodyPr/>
                    <a:lstStyle/>
                    <a:p>
                      <a:r>
                        <a:rPr sz="1200">
                          <a:solidFill>
                            <a:srgbClr val="2B3038"/>
                          </a:solidFill>
                          <a:latin typeface="Aptos"/>
                        </a:rPr>
                        <a:t>Preliminary investigation</a:t>
                      </a:r>
                    </a:p>
                  </a:txBody>
                  <a:tcPr>
                    <a:solidFill>
                      <a:srgbClr val="F5F7FA"/>
                    </a:solidFill>
                  </a:tcPr>
                </a:tc>
                <a:tc>
                  <a:txBody>
                    <a:bodyPr/>
                    <a:lstStyle/>
                    <a:p>
                      <a:r>
                        <a:rPr sz="1200">
                          <a:solidFill>
                            <a:srgbClr val="2B3038"/>
                          </a:solidFill>
                          <a:latin typeface="Aptos"/>
                        </a:rPr>
                        <a:t>CA_INVST_PRELIMINARY_T and related preliminary history / assignment / issue tables</a:t>
                      </a:r>
                    </a:p>
                  </a:txBody>
                  <a:tcPr>
                    <a:solidFill>
                      <a:srgbClr val="F5F7FA"/>
                    </a:solidFill>
                  </a:tcPr>
                </a:tc>
              </a:tr>
              <a:tr h="440574">
                <a:tc>
                  <a:txBody>
                    <a:bodyPr/>
                    <a:lstStyle/>
                    <a:p>
                      <a:r>
                        <a:rPr sz="1200">
                          <a:solidFill>
                            <a:srgbClr val="2B3038"/>
                          </a:solidFill>
                          <a:latin typeface="Aptos"/>
                        </a:rPr>
                        <a:t>Fullscale investigation</a:t>
                      </a:r>
                    </a:p>
                  </a:txBody>
                  <a:tcPr>
                    <a:solidFill>
                      <a:srgbClr val="FFFFFF"/>
                    </a:solidFill>
                  </a:tcPr>
                </a:tc>
                <a:tc>
                  <a:txBody>
                    <a:bodyPr/>
                    <a:lstStyle/>
                    <a:p>
                      <a:r>
                        <a:rPr sz="1200">
                          <a:solidFill>
                            <a:srgbClr val="2B3038"/>
                          </a:solidFill>
                          <a:latin typeface="Aptos"/>
                        </a:rPr>
                        <a:t>CA_INVST_FULLSCALE_T and related fullscale history / assignment / issue tables</a:t>
                      </a:r>
                    </a:p>
                  </a:txBody>
                  <a:tcPr>
                    <a:solidFill>
                      <a:srgbClr val="FFFFFF"/>
                    </a:solidFill>
                  </a:tcPr>
                </a:tc>
              </a:tr>
              <a:tr h="440574">
                <a:tc>
                  <a:txBody>
                    <a:bodyPr/>
                    <a:lstStyle/>
                    <a:p>
                      <a:r>
                        <a:rPr sz="1200">
                          <a:solidFill>
                            <a:srgbClr val="2B3038"/>
                          </a:solidFill>
                          <a:latin typeface="Aptos"/>
                        </a:rPr>
                        <a:t>Claim detail</a:t>
                      </a:r>
                    </a:p>
                  </a:txBody>
                  <a:tcPr>
                    <a:solidFill>
                      <a:srgbClr val="F5F7FA"/>
                    </a:solidFill>
                  </a:tcPr>
                </a:tc>
                <a:tc>
                  <a:txBody>
                    <a:bodyPr/>
                    <a:lstStyle/>
                    <a:p>
                      <a:r>
                        <a:rPr sz="1200">
                          <a:solidFill>
                            <a:srgbClr val="2B3038"/>
                          </a:solidFill>
                          <a:latin typeface="Aptos"/>
                        </a:rPr>
                        <a:t>CA_CLAIM_LIST_T, CA_CLAIM_CORRECTIONS_T, CA_CLAIM_CORRECTIONS_HIST_T</a:t>
                      </a:r>
                    </a:p>
                  </a:txBody>
                  <a:tcPr>
                    <a:solidFill>
                      <a:srgbClr val="F5F7FA"/>
                    </a:solidFill>
                  </a:tcPr>
                </a:tc>
              </a:tr>
              <a:tr h="440580">
                <a:tc>
                  <a:txBody>
                    <a:bodyPr/>
                    <a:lstStyle/>
                    <a:p>
                      <a:r>
                        <a:rPr sz="1200">
                          <a:solidFill>
                            <a:srgbClr val="2B3038"/>
                          </a:solidFill>
                          <a:latin typeface="Aptos"/>
                        </a:rPr>
                        <a:t>Email audit</a:t>
                      </a:r>
                    </a:p>
                  </a:txBody>
                  <a:tcPr>
                    <a:solidFill>
                      <a:srgbClr val="FFFFFF"/>
                    </a:solidFill>
                  </a:tcPr>
                </a:tc>
                <a:tc>
                  <a:txBody>
                    <a:bodyPr/>
                    <a:lstStyle/>
                    <a:p>
                      <a:r>
                        <a:rPr sz="1200">
                          <a:solidFill>
                            <a:srgbClr val="2B3038"/>
                          </a:solidFill>
                          <a:latin typeface="Aptos"/>
                        </a:rPr>
                        <a:t>CA_EMAILS_BATCH_T</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640080"/>
          </a:xfrm>
          <a:prstGeom prst="rect">
            <a:avLst/>
          </a:prstGeom>
          <a:noFill/>
        </p:spPr>
        <p:txBody>
          <a:bodyPr wrap="none">
            <a:spAutoFit/>
          </a:bodyPr>
          <a:lstStyle/>
          <a:p>
            <a:r>
              <a:rPr sz="2400" b="1">
                <a:solidFill>
                  <a:srgbClr val="183058"/>
                </a:solidFill>
                <a:latin typeface="Aptos Display"/>
              </a:rPr>
              <a:t>Notification and Control Logic</a:t>
            </a:r>
          </a:p>
        </p:txBody>
      </p:sp>
      <p:sp>
        <p:nvSpPr>
          <p:cNvPr id="3" name="TextBox 2"/>
          <p:cNvSpPr txBox="1"/>
          <p:nvPr/>
        </p:nvSpPr>
        <p:spPr>
          <a:xfrm>
            <a:off x="548640" y="914400"/>
            <a:ext cx="10972800" cy="411480"/>
          </a:xfrm>
          <a:prstGeom prst="rect">
            <a:avLst/>
          </a:prstGeom>
          <a:noFill/>
        </p:spPr>
        <p:txBody>
          <a:bodyPr wrap="none">
            <a:spAutoFit/>
          </a:bodyPr>
          <a:lstStyle/>
          <a:p>
            <a:r>
              <a:rPr sz="1100">
                <a:solidFill>
                  <a:srgbClr val="66707A"/>
                </a:solidFill>
                <a:latin typeface="Aptos"/>
              </a:rPr>
              <a:t>How the process communicates outcomes to users and administrators</a:t>
            </a:r>
          </a:p>
        </p:txBody>
      </p:sp>
      <p:sp>
        <p:nvSpPr>
          <p:cNvPr id="4" name="Rounded Rectangle 3"/>
          <p:cNvSpPr/>
          <p:nvPr/>
        </p:nvSpPr>
        <p:spPr>
          <a:xfrm>
            <a:off x="548640" y="1417320"/>
            <a:ext cx="10972800" cy="502920"/>
          </a:xfrm>
          <a:prstGeom prst="roundRect">
            <a:avLst/>
          </a:prstGeom>
          <a:solidFill>
            <a:srgbClr val="183058"/>
          </a:solidFill>
          <a:ln>
            <a:solidFill>
              <a:srgbClr val="183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ptos"/>
              </a:rPr>
              <a:t>Email Scenarios</a:t>
            </a:r>
          </a:p>
        </p:txBody>
      </p:sp>
      <p:sp>
        <p:nvSpPr>
          <p:cNvPr id="5" name="Rounded Rectangle 4"/>
          <p:cNvSpPr/>
          <p:nvPr/>
        </p:nvSpPr>
        <p:spPr>
          <a:xfrm>
            <a:off x="731520" y="1920240"/>
            <a:ext cx="3383280" cy="1280160"/>
          </a:xfrm>
          <a:prstGeom prst="roundRect">
            <a:avLst/>
          </a:prstGeom>
          <a:solidFill>
            <a:srgbClr val="4A8665"/>
          </a:solidFill>
          <a:ln>
            <a:solidFill>
              <a:srgbClr val="4A866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Success</a:t>
            </a:r>
          </a:p>
          <a:p>
            <a:pPr>
              <a:defRPr sz="1100">
                <a:solidFill>
                  <a:srgbClr val="FFFFFF"/>
                </a:solidFill>
                <a:latin typeface="Aptos"/>
              </a:defRPr>
            </a:pPr>
            <a:r>
              <a:t>Sent to the submitting user after cases are created successfully for the batch.</a:t>
            </a:r>
          </a:p>
        </p:txBody>
      </p:sp>
      <p:sp>
        <p:nvSpPr>
          <p:cNvPr id="6" name="Rounded Rectangle 5"/>
          <p:cNvSpPr/>
          <p:nvPr/>
        </p:nvSpPr>
        <p:spPr>
          <a:xfrm>
            <a:off x="4389120" y="1920240"/>
            <a:ext cx="3383280" cy="1280160"/>
          </a:xfrm>
          <a:prstGeom prst="roundRect">
            <a:avLst/>
          </a:prstGeom>
          <a:solidFill>
            <a:srgbClr val="3F67BD"/>
          </a:solidFill>
          <a:ln>
            <a:solidFill>
              <a:srgbClr val="3F67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Assignment</a:t>
            </a:r>
          </a:p>
          <a:p>
            <a:pPr>
              <a:defRPr sz="1100">
                <a:solidFill>
                  <a:srgbClr val="FFFFFF"/>
                </a:solidFill>
                <a:latin typeface="Aptos"/>
              </a:defRPr>
            </a:pPr>
            <a:r>
              <a:t>Sent to the assigned user when investigation assignment information is present.</a:t>
            </a:r>
          </a:p>
        </p:txBody>
      </p:sp>
      <p:sp>
        <p:nvSpPr>
          <p:cNvPr id="7" name="Rounded Rectangle 6"/>
          <p:cNvSpPr/>
          <p:nvPr/>
        </p:nvSpPr>
        <p:spPr>
          <a:xfrm>
            <a:off x="8046720" y="1920240"/>
            <a:ext cx="3383280" cy="1280160"/>
          </a:xfrm>
          <a:prstGeom prst="roundRect">
            <a:avLst/>
          </a:prstGeom>
          <a:solidFill>
            <a:srgbClr val="B64645"/>
          </a:solidFill>
          <a:ln>
            <a:solidFill>
              <a:srgbClr val="B6464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ptos"/>
              </a:rPr>
              <a:t>Invalid / Failure</a:t>
            </a:r>
          </a:p>
          <a:p>
            <a:pPr>
              <a:defRPr sz="1100">
                <a:solidFill>
                  <a:srgbClr val="FFFFFF"/>
                </a:solidFill>
                <a:latin typeface="Aptos"/>
              </a:defRPr>
            </a:pPr>
            <a:r>
              <a:t>Sent to the submitter for invalid batches and to admin distribution on processing failure.</a:t>
            </a:r>
          </a:p>
        </p:txBody>
      </p:sp>
      <p:sp>
        <p:nvSpPr>
          <p:cNvPr id="8" name="TextBox 7"/>
          <p:cNvSpPr txBox="1"/>
          <p:nvPr/>
        </p:nvSpPr>
        <p:spPr>
          <a:xfrm>
            <a:off x="822960" y="3657600"/>
            <a:ext cx="10881360" cy="2011680"/>
          </a:xfrm>
          <a:prstGeom prst="rect">
            <a:avLst/>
          </a:prstGeom>
          <a:noFill/>
        </p:spPr>
        <p:txBody>
          <a:bodyPr wrap="square">
            <a:spAutoFit/>
          </a:bodyPr>
          <a:lstStyle/>
          <a:p>
            <a:pPr>
              <a:spcAft>
                <a:spcPts val="1000"/>
              </a:spcAft>
              <a:defRPr sz="1700">
                <a:solidFill>
                  <a:srgbClr val="2B3038"/>
                </a:solidFill>
                <a:latin typeface="Aptos"/>
              </a:defRPr>
            </a:pPr>
            <a:r>
              <a:t>Email templates and placeholders are driven from metadata and configuration tables.</a:t>
            </a:r>
          </a:p>
          <a:p>
            <a:pPr>
              <a:spcAft>
                <a:spcPts val="1000"/>
              </a:spcAft>
              <a:defRPr sz="1700">
                <a:solidFill>
                  <a:srgbClr val="2B3038"/>
                </a:solidFill>
                <a:latin typeface="Aptos"/>
              </a:defRPr>
            </a:pPr>
            <a:r>
              <a:t>Recipients are resolved based on the scenario: submitter, assignee, or admin distribution list.</a:t>
            </a:r>
          </a:p>
          <a:p>
            <a:pPr>
              <a:spcAft>
                <a:spcPts val="1000"/>
              </a:spcAft>
              <a:defRPr sz="1700">
                <a:solidFill>
                  <a:srgbClr val="2B3038"/>
                </a:solidFill>
                <a:latin typeface="Aptos"/>
              </a:defRPr>
            </a:pPr>
            <a:r>
              <a:t>Successful email sends are logged in CA_EMAILS_BATCH_T for audit and traceability.</a:t>
            </a:r>
          </a:p>
          <a:p>
            <a:pPr>
              <a:spcAft>
                <a:spcPts val="1000"/>
              </a:spcAft>
              <a:defRPr sz="1700">
                <a:solidFill>
                  <a:srgbClr val="2B3038"/>
                </a:solidFill>
                <a:latin typeface="Aptos"/>
              </a:defRPr>
            </a:pPr>
            <a:r>
              <a:t>Email delivery can be routed through SMTP or Azure Logic App depending on configuration.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65760"/>
            <a:ext cx="11064240" cy="640080"/>
          </a:xfrm>
          <a:prstGeom prst="rect">
            <a:avLst/>
          </a:prstGeom>
          <a:noFill/>
        </p:spPr>
        <p:txBody>
          <a:bodyPr wrap="none">
            <a:spAutoFit/>
          </a:bodyPr>
          <a:lstStyle/>
          <a:p>
            <a:r>
              <a:rPr sz="2400" b="1">
                <a:solidFill>
                  <a:srgbClr val="183058"/>
                </a:solidFill>
                <a:latin typeface="Aptos Display"/>
              </a:rPr>
              <a:t>Executive Summary</a:t>
            </a:r>
          </a:p>
        </p:txBody>
      </p:sp>
      <p:sp>
        <p:nvSpPr>
          <p:cNvPr id="3" name="TextBox 2"/>
          <p:cNvSpPr txBox="1"/>
          <p:nvPr/>
        </p:nvSpPr>
        <p:spPr>
          <a:xfrm>
            <a:off x="548640" y="914400"/>
            <a:ext cx="10972800" cy="411480"/>
          </a:xfrm>
          <a:prstGeom prst="rect">
            <a:avLst/>
          </a:prstGeom>
          <a:noFill/>
        </p:spPr>
        <p:txBody>
          <a:bodyPr wrap="none">
            <a:spAutoFit/>
          </a:bodyPr>
          <a:lstStyle/>
          <a:p>
            <a:r>
              <a:rPr sz="1100">
                <a:solidFill>
                  <a:srgbClr val="66707A"/>
                </a:solidFill>
                <a:latin typeface="Aptos"/>
              </a:rPr>
              <a:t>Client-facing closeout slide</a:t>
            </a:r>
          </a:p>
        </p:txBody>
      </p:sp>
      <p:sp>
        <p:nvSpPr>
          <p:cNvPr id="4" name="Rounded Rectangle 3"/>
          <p:cNvSpPr/>
          <p:nvPr/>
        </p:nvSpPr>
        <p:spPr>
          <a:xfrm>
            <a:off x="822960" y="1645920"/>
            <a:ext cx="10515600" cy="274320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183058"/>
                </a:solidFill>
                <a:latin typeface="Aptos"/>
              </a:rPr>
              <a:t>The batch process reads staged claims, validates them against source claim data, groups them by participant, creates the case header and all dependent child records, stores the processed claim universe, and sends outcome-based notifications with audit logging.</a:t>
            </a:r>
          </a:p>
        </p:txBody>
      </p:sp>
      <p:sp>
        <p:nvSpPr>
          <p:cNvPr id="5" name="TextBox 4"/>
          <p:cNvSpPr txBox="1"/>
          <p:nvPr/>
        </p:nvSpPr>
        <p:spPr>
          <a:xfrm>
            <a:off x="1097280" y="4709160"/>
            <a:ext cx="10058400" cy="1280160"/>
          </a:xfrm>
          <a:prstGeom prst="rect">
            <a:avLst/>
          </a:prstGeom>
          <a:noFill/>
        </p:spPr>
        <p:txBody>
          <a:bodyPr wrap="square">
            <a:spAutoFit/>
          </a:bodyPr>
          <a:lstStyle/>
          <a:p>
            <a:pPr>
              <a:spcAft>
                <a:spcPts val="1000"/>
              </a:spcAft>
              <a:defRPr sz="1600">
                <a:solidFill>
                  <a:srgbClr val="2B3038"/>
                </a:solidFill>
                <a:latin typeface="Aptos"/>
              </a:defRPr>
            </a:pPr>
            <a:r>
              <a:t>Net result: a controlled, metadata-driven batch engine that validates data before populating the case-tracking model.</a:t>
            </a:r>
          </a:p>
          <a:p>
            <a:pPr>
              <a:spcAft>
                <a:spcPts val="1000"/>
              </a:spcAft>
              <a:defRPr sz="1600">
                <a:solidFill>
                  <a:srgbClr val="2B3038"/>
                </a:solidFill>
                <a:latin typeface="Aptos"/>
              </a:defRPr>
            </a:pPr>
            <a:r>
              <a:t>Business value: consistent case creation, downstream traceability, and clear operational notifications.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